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Web3 tried to fix the creator economy and mostly failed because it was token-first. StreamPump is the opposite — a trust &amp; settlement layer, not a coin. And it already runs end-to-end on devnet. 'This isn't a deck, it's working — I'll show you the chain in 60 seconds.'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is here — creator campaigns are a core media channel. The missing piece is a verifiable trust layer between brands, creators and fans.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failed because they were coins looking for a product. StreamPump inverts all three: product-first, token can't be sold, attribution not ownership.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ownership: we put a creator-signed publication timestamp + integrity fingerprint on-chain — attribution, not ownership, so revenue reaches the right creator. Status-over-money is also the compliance backbone.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product in one line, and the single most underrated architectural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change vs. naive designs: reward decoupled from stake size + capped, creator gets the majority. This recharacterizes the backer payout as a reward for early curation, not a return on capital — central to the compliance posture.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1 protects the creator, Track 2 aligns incentives with capped flat fan rewards, Track 3 stays gated — we don't fabricate sales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Always-available sinks (cheer/boost/badges) make most SPUMP demand non-monetary — which also collapses any implicit USD price. This is engagement AND a compliance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Killer detail for judges: NonTransferable blocks transfers but Token-2022 still permits Burn — exactly the conviction mechanic SPUMP needs. Shows we read the spec, not a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differentiator vs every vaporware deck. Show the corridor, then open Explorer live. Pre-load the tab to avoid RPC hiccups.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are investors — pre-empt the securities question and own the sponsor-adoption risk. Treasury abstraction is the mitigation: on-chain verifiability without crypto UX for the buyer.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 concrete ask — Colosseum judges look for investable companies. End on the one-liner.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82880"/>
            <a:ext cx="2194560" cy="2194560"/>
          </a:xfrm>
          <a:prstGeom prst="ellipse">
            <a:avLst/>
          </a:prstGeom>
          <a:solidFill>
            <a:srgbClr val="405A9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566160"/>
            <a:ext cx="1463040" cy="1463040"/>
          </a:xfrm>
          <a:prstGeom prst="ellipse">
            <a:avLst/>
          </a:prstGeom>
          <a:solidFill>
            <a:srgbClr val="DE402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640080" y="3291840"/>
            <a:ext cx="1828800" cy="1828800"/>
          </a:xfrm>
          <a:prstGeom prst="ellipse">
            <a:avLst/>
          </a:prstGeom>
          <a:solidFill>
            <a:srgbClr val="224A8C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DE402A"/>
          </a:solidFill>
          <a:ln/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7FB"/>
                </a:solidFill>
              </a:rPr>
              <a:t>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5880" y="122529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StreamPump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2148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creator-sponsorship trust &amp; settlement layer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76656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→ momentum → fans → sponsor USDC → </a:t>
            </a:r>
            <a:pPr indent="0" marL="0">
              <a:buNone/>
            </a:pPr>
            <a:r>
              <a:rPr lang="en-US" sz="1700" b="1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settlement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76656" y="3886200"/>
            <a:ext cx="1960474" cy="420624"/>
          </a:xfrm>
          <a:prstGeom prst="roundRect">
            <a:avLst>
              <a:gd name="adj" fmla="val 50000"/>
            </a:avLst>
          </a:prstGeom>
          <a:solidFill>
            <a:srgbClr val="151D2B"/>
          </a:solidFill>
          <a:ln w="12700">
            <a:solidFill>
              <a:srgbClr val="7E2A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3886200"/>
            <a:ext cx="19604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fan-token casino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20010" y="3886200"/>
            <a:ext cx="1585570" cy="420624"/>
          </a:xfrm>
          <a:prstGeom prst="roundRect">
            <a:avLst>
              <a:gd name="adj" fmla="val 50000"/>
            </a:avLst>
          </a:prstGeom>
          <a:solidFill>
            <a:srgbClr val="151D2B"/>
          </a:solidFill>
          <a:ln w="12700">
            <a:solidFill>
              <a:srgbClr val="7E2A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20010" y="3886200"/>
            <a:ext cx="15855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SPUMP never lists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88459" y="3886200"/>
            <a:ext cx="2035454" cy="420624"/>
          </a:xfrm>
          <a:prstGeom prst="roundRect">
            <a:avLst>
              <a:gd name="adj" fmla="val 50000"/>
            </a:avLst>
          </a:prstGeom>
          <a:solidFill>
            <a:srgbClr val="151D2B"/>
          </a:solidFill>
          <a:ln w="12700">
            <a:solidFill>
              <a:srgbClr val="7E2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88459" y="3886200"/>
            <a:ext cx="20354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live on devnet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Web2.5 · Built on Solana · Token-2022 · Anchor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$480B market missing one layer: trust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670048" cy="1572768"/>
          </a:xfrm>
          <a:prstGeom prst="roundRect">
            <a:avLst>
              <a:gd name="adj" fmla="val 5814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E4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$480B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04088" y="24871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economy by 2027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28895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Goldman Sachs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0128" y="1645920"/>
            <a:ext cx="2670048" cy="1572768"/>
          </a:xfrm>
          <a:prstGeom prst="roundRect">
            <a:avLst>
              <a:gd name="adj" fmla="val 5814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11296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E4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$37B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11296" y="24871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creator ad spend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11296" y="28895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IAB, 2025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17336" y="1645920"/>
            <a:ext cx="2670048" cy="1572768"/>
          </a:xfrm>
          <a:prstGeom prst="roundRect">
            <a:avLst>
              <a:gd name="adj" fmla="val 5814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18504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E4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318504" y="24871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prefer micro / mid creators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18504" y="28895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mega-influencers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456432"/>
            <a:ext cx="8138160" cy="1097280"/>
          </a:xfrm>
          <a:prstGeom prst="roundRect">
            <a:avLst>
              <a:gd name="adj" fmla="val 8333"/>
            </a:avLst>
          </a:prstGeom>
          <a:solidFill>
            <a:srgbClr val="1A2433"/>
          </a:solidFill>
          <a:ln w="12700">
            <a:solidFill>
              <a:srgbClr val="7E2A1E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60273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trust.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96849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</a:t>
            </a:r>
            <a:pPr indent="0" marL="0">
              <a:buNone/>
            </a:pPr>
            <a:r>
              <a:rPr lang="en-US" sz="13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need campaign proof.   </a:t>
            </a:r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</a:t>
            </a:r>
            <a:pPr indent="0" marL="0">
              <a:buNone/>
            </a:pPr>
            <a:r>
              <a:rPr lang="en-US" sz="13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need fair, structured settlement.   </a:t>
            </a:r>
            <a:pPr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Fans</a:t>
            </a:r>
            <a:pPr indent="0" marL="0">
              <a:buNone/>
            </a:pPr>
            <a:r>
              <a:rPr lang="en-US" sz="13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need upside that isn't speculation.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PRIOR ATTEMPTS FAILED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SocialFi 1.0 collapsed — structurally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7556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friend.tech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2084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E4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80k → &lt;10k DAU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04088" y="25420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fell to ~$71; abandoned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0128" y="1627632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11296" y="17556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Farcaster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11296" y="2084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E4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15k → 545 / mo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511296" y="25420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$150M raised, signups cratered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17336" y="1627632"/>
            <a:ext cx="2670048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18504" y="17556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18504" y="2084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E4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37k → 142 / mo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18504" y="25420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~99.6% drop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structural failures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584448"/>
            <a:ext cx="2670048" cy="987552"/>
          </a:xfrm>
          <a:prstGeom prst="roundRect">
            <a:avLst>
              <a:gd name="adj" fmla="val 9259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730752"/>
            <a:ext cx="365760" cy="365760"/>
          </a:xfrm>
          <a:prstGeom prst="ellipse">
            <a:avLst/>
          </a:prstGeom>
          <a:solidFill>
            <a:srgbClr val="DE402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61288" y="3721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Token-first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Coins, not products.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0128" y="3584448"/>
            <a:ext cx="2670048" cy="987552"/>
          </a:xfrm>
          <a:prstGeom prst="roundRect">
            <a:avLst>
              <a:gd name="adj" fmla="val 9259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93008" y="3730752"/>
            <a:ext cx="365760" cy="365760"/>
          </a:xfrm>
          <a:prstGeom prst="ellipse">
            <a:avLst/>
          </a:prstGeom>
          <a:solidFill>
            <a:srgbClr val="DE402A"/>
          </a:solidFill>
          <a:ln/>
        </p:spPr>
      </p:sp>
      <p:sp>
        <p:nvSpPr>
          <p:cNvPr id="24" name="Text 22"/>
          <p:cNvSpPr/>
          <p:nvPr/>
        </p:nvSpPr>
        <p:spPr>
          <a:xfrm>
            <a:off x="34930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968496" y="3721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View-to-earn spiral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11296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→ dump on DEX → crash → leave.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17336" y="3584448"/>
            <a:ext cx="2670048" cy="987552"/>
          </a:xfrm>
          <a:prstGeom prst="roundRect">
            <a:avLst>
              <a:gd name="adj" fmla="val 9259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0216" y="3730752"/>
            <a:ext cx="365760" cy="365760"/>
          </a:xfrm>
          <a:prstGeom prst="ellipse">
            <a:avLst/>
          </a:prstGeom>
          <a:solidFill>
            <a:srgbClr val="DE402A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75704" y="3721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ownership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18504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content: slow, costly, unwanted.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BELIEVE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convictions that invert the playbook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847088"/>
            <a:ext cx="438912" cy="438912"/>
          </a:xfrm>
          <a:prstGeom prst="ellipse">
            <a:avLst/>
          </a:prstGeom>
          <a:solidFill>
            <a:srgbClr val="DE402A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18470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is the asset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2376" y="232257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retain audiences; coins attract speculators. We anchor attribution, never tokenize or lock content.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1728" y="1627632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82896" y="1847088"/>
            <a:ext cx="438912" cy="438912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11" name="Text 9"/>
          <p:cNvSpPr/>
          <p:nvPr/>
        </p:nvSpPr>
        <p:spPr>
          <a:xfrm>
            <a:off x="4882896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58968" y="18470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SPUMP is utility-only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01184" y="232257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Non-transferable, never listed. Earned through participation, spent on status — never sold.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127248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" y="3346704"/>
            <a:ext cx="438912" cy="438912"/>
          </a:xfrm>
          <a:prstGeom prst="ellipse">
            <a:avLst/>
          </a:prstGeom>
          <a:solidFill>
            <a:srgbClr val="DE402A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346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80160" y="334670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 are spenders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2376" y="382219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run campaigns and pay USDC — a healthier capital source than speculation, and the protocol's primary inflow.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81728" y="3127248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82896" y="3346704"/>
            <a:ext cx="438912" cy="438912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21" name="Text 19"/>
          <p:cNvSpPr/>
          <p:nvPr/>
        </p:nvSpPr>
        <p:spPr>
          <a:xfrm>
            <a:off x="4882896" y="3346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58968" y="334670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over money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01184" y="382219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durable driver is status, identity &amp; curation reputation. USDC is a bounded bonus, never the pitch.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loop, settled on Solana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572768" cy="1097280"/>
          </a:xfrm>
          <a:prstGeom prst="roundRect">
            <a:avLst>
              <a:gd name="adj" fmla="val 8333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938528"/>
            <a:ext cx="475488" cy="475488"/>
          </a:xfrm>
          <a:prstGeom prst="ellipse">
            <a:avLst/>
          </a:prstGeom>
          <a:solidFill>
            <a:srgbClr val="DE402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57400" y="1783080"/>
            <a:ext cx="210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7C97"/>
                </a:solidFill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40280" y="1783080"/>
            <a:ext cx="1572768" cy="1097280"/>
          </a:xfrm>
          <a:prstGeom prst="roundRect">
            <a:avLst>
              <a:gd name="adj" fmla="val 8333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938528"/>
            <a:ext cx="475488" cy="475488"/>
          </a:xfrm>
          <a:prstGeom prst="ellipse">
            <a:avLst/>
          </a:prstGeom>
          <a:solidFill>
            <a:srgbClr val="DE402A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286000" y="248716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1783080"/>
            <a:ext cx="210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7C97"/>
                </a:solidFill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977640" y="1783080"/>
            <a:ext cx="1572768" cy="1097280"/>
          </a:xfrm>
          <a:prstGeom prst="roundRect">
            <a:avLst>
              <a:gd name="adj" fmla="val 8333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1938528"/>
            <a:ext cx="475488" cy="475488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023360" y="248716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32120" y="1783080"/>
            <a:ext cx="210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7C97"/>
                </a:solidFill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715000" y="1783080"/>
            <a:ext cx="1572768" cy="1097280"/>
          </a:xfrm>
          <a:prstGeom prst="roundRect">
            <a:avLst>
              <a:gd name="adj" fmla="val 8333"/>
            </a:avLst>
          </a:prstGeom>
          <a:solidFill>
            <a:srgbClr val="1A24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938528"/>
            <a:ext cx="475488" cy="475488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760720" y="248716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1783080"/>
            <a:ext cx="210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7C97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52360" y="1783080"/>
            <a:ext cx="1572768" cy="1097280"/>
          </a:xfrm>
          <a:prstGeom prst="roundRect">
            <a:avLst>
              <a:gd name="adj" fmla="val 8333"/>
            </a:avLst>
          </a:prstGeom>
          <a:solidFill>
            <a:srgbClr val="1A2433"/>
          </a:solidFill>
          <a:ln w="12700">
            <a:solidFill>
              <a:srgbClr val="31447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01000" y="1938528"/>
            <a:ext cx="475488" cy="475488"/>
          </a:xfrm>
          <a:prstGeom prst="ellipse">
            <a:avLst/>
          </a:prstGeom>
          <a:solidFill>
            <a:srgbClr val="6E8CE6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98080" y="248716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246120"/>
            <a:ext cx="8138160" cy="1298448"/>
          </a:xfrm>
          <a:prstGeom prst="roundRect">
            <a:avLst>
              <a:gd name="adj" fmla="val 7042"/>
            </a:avLst>
          </a:prstGeom>
          <a:solidFill>
            <a:srgbClr val="151D2B"/>
          </a:solidFill>
          <a:ln w="12700">
            <a:solidFill>
              <a:srgbClr val="31447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34015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8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DB-first for workflow · chain-first for financial truth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3785616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Drafts, uploads, manifests and intents live in Postgres — fast and flexible. Funding, settlement, token movement and content anchoring are Solana truth. This single split separates StreamPump from a fan-token casino on one side and a slow, expensive everything-on-chain product on the other.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1 — CREATOR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Conviction-based discovery, not a fan-token market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Fans burn non-transferable SPUMP for an internal S1 position (a PDA, not a tradable token) on a rating-adjusted bonding curve. Because SPUMP is unbuyable, backing is a credible costly signal — the trust-layer thesis depends on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1289304" cy="603504"/>
          </a:xfrm>
          <a:prstGeom prst="roundRect">
            <a:avLst>
              <a:gd name="adj" fmla="val 15152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9496" y="2240280"/>
            <a:ext cx="1216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73936" y="2240280"/>
            <a:ext cx="128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C97"/>
                </a:solidFill>
              </a:rPr>
              <a:t>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74520" y="2240280"/>
            <a:ext cx="1289304" cy="603504"/>
          </a:xfrm>
          <a:prstGeom prst="roundRect">
            <a:avLst>
              <a:gd name="adj" fmla="val 15152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11096" y="2240280"/>
            <a:ext cx="1216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45536" y="2240280"/>
            <a:ext cx="128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C97"/>
                </a:solidFill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46120" y="2240280"/>
            <a:ext cx="1289304" cy="603504"/>
          </a:xfrm>
          <a:prstGeom prst="roundRect">
            <a:avLst>
              <a:gd name="adj" fmla="val 15152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82696" y="2240280"/>
            <a:ext cx="1216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Rage-quit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17136" y="2240280"/>
            <a:ext cx="128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C97"/>
                </a:solidFill>
              </a:rPr>
              <a:t>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17720" y="2240280"/>
            <a:ext cx="1289304" cy="603504"/>
          </a:xfrm>
          <a:prstGeom prst="roundRect">
            <a:avLst>
              <a:gd name="adj" fmla="val 15152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54296" y="2240280"/>
            <a:ext cx="1216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88736" y="2240280"/>
            <a:ext cx="128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C97"/>
                </a:solidFill>
              </a:rPr>
              <a:t>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89320" y="2240280"/>
            <a:ext cx="1289304" cy="603504"/>
          </a:xfrm>
          <a:prstGeom prst="roundRect">
            <a:avLst>
              <a:gd name="adj" fmla="val 15152"/>
            </a:avLst>
          </a:prstGeom>
          <a:solidFill>
            <a:srgbClr val="1A2433"/>
          </a:solidFill>
          <a:ln w="12700">
            <a:solidFill>
              <a:srgbClr val="7E2A1E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25896" y="2240280"/>
            <a:ext cx="1216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60336" y="2240280"/>
            <a:ext cx="128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7C97"/>
                </a:solidFill>
              </a:rPr>
              <a:t>›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60920" y="2240280"/>
            <a:ext cx="1289304" cy="603504"/>
          </a:xfrm>
          <a:prstGeom prst="roundRect">
            <a:avLst>
              <a:gd name="adj" fmla="val 15152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97496" y="2240280"/>
            <a:ext cx="1216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035808"/>
            <a:ext cx="8138160" cy="1517904"/>
          </a:xfrm>
          <a:prstGeom prst="roundRect">
            <a:avLst>
              <a:gd name="adj" fmla="val 6024"/>
            </a:avLst>
          </a:prstGeom>
          <a:solidFill>
            <a:srgbClr val="1A2433"/>
          </a:solidFill>
          <a:ln w="12700">
            <a:solidFill>
              <a:srgbClr val="7E2A1E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316382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buyout economics — designed so backing reads as curation, not investment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" y="3529584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—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sponsor's committed USDC budget (optional early platform top-up).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gets the majority —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bulk of the buyout is the creator's commercial proceeds.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Backer reward is capped &amp; decoupled —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eligibility / earliness / loyalty, never pro-rata to stake.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reward is status —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founding rank; USDC is a bounded bonus.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2 — THE BUSINESS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settlement tracks, granular control</a:t>
            </a:r>
            <a:endParaRPr lang="en-US" sz="3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64208"/>
          <a:ext cx="81381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057400"/>
                <a:gridCol w="4846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7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Settlement logic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3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E4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3A2B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base pay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3A2B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Unconditional creator payout — the 'you definitely get paid' floor.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FB6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3A2B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budget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3A2B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Cliff threshold; below = sponsor refund. Above = 80% creator / 20% fan pool (capped, flat — not stake-proportional).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E8C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3A2B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CPS (cost per sale)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3A2B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Pre-funded; settles after refund window; unused returns to sponsor. Gated until a real merchant provider exists.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902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Lifecycle: content manifest → proposal intent → creator signs → sponsor signs &amp; funds → Solana vault → per-track settlement, producing a public, auditable campaign proof.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TOKEN, DONE RIGHT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SPUMP buys voice — never a yield multiple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SPUMP is the platform's conviction / voice / energy currency: non-transferable, no sale, never listed. Earned through participation; spent on status, reach and reputation.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3959352" cy="841248"/>
          </a:xfrm>
          <a:prstGeom prst="roundRect">
            <a:avLst>
              <a:gd name="adj" fmla="val 10870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22311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tiers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22376" y="25420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 status, claimed with a burn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81728" y="2103120"/>
            <a:ext cx="3959352" cy="841248"/>
          </a:xfrm>
          <a:prstGeom prst="roundRect">
            <a:avLst>
              <a:gd name="adj" fmla="val 10870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01184" y="22311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Cheer / boost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01184" y="25420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 signals that feed momentum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3959352" cy="841248"/>
          </a:xfrm>
          <a:prstGeom prst="roundRect">
            <a:avLst>
              <a:gd name="adj" fmla="val 10870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Perk unlock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2376" y="34930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access cosmetics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81728" y="3054096"/>
            <a:ext cx="3959352" cy="841248"/>
          </a:xfrm>
          <a:prstGeom prst="roundRect">
            <a:avLst>
              <a:gd name="adj" fmla="val 10870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01184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 shield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01184" y="34930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loss-aversion sink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078224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1A2433"/>
          </a:solidFill>
          <a:ln w="12700">
            <a:solidFill>
              <a:srgbClr val="7E2A1E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07822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 we never cross:  </a:t>
            </a:r>
            <a:pPr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sink converts SPUMP to USDC, raises a claim, or manufactures a price. Voice &amp; reputation — never earnings.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274320"/>
            <a:ext cx="1554480" cy="1554480"/>
          </a:xfrm>
          <a:prstGeom prst="ellipse">
            <a:avLst/>
          </a:prstGeom>
          <a:solidFill>
            <a:srgbClr val="DE402A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SOLANA — NOT A MARKETING CHOICE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mechanism needs a specific Solana capability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7E2A1E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Token-2022 NonTransferable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" y="2212848"/>
            <a:ext cx="3584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SPUMP is soulbound at the protocol level — yet Burn is still allowed, so 'burn to back' works natively. No hack.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81728" y="1664208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245A52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01184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~150ms finality · &lt;$0.001 fees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01184" y="2212848"/>
            <a:ext cx="3584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Bonding-curve UX confirms sub-second; micro-settlements (Track 2/3) are economically viable. Impossible on a high-fee L1.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200400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7E2A1E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" y="33649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PDA composability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" y="3749040"/>
            <a:ext cx="3584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Config, profiles, S1 positions, proposals and USDC vaults are deterministic, verifiable on-chain accounts.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81728" y="3200400"/>
            <a:ext cx="3959352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245A52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01184" y="33649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— one program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01184" y="3749040"/>
            <a:ext cx="3584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type-safe instructions covering the full S1 / buyout / S2 lifecycle; 84 typed error variants.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B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MOCKUP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production corridor is verified on devnet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664208"/>
            <a:ext cx="1289304" cy="658368"/>
          </a:xfrm>
          <a:prstGeom prst="roundRect">
            <a:avLst>
              <a:gd name="adj" fmla="val 13889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9496" y="1664208"/>
            <a:ext cx="1216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Authed creator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773936" y="1664208"/>
            <a:ext cx="128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7C97"/>
                </a:solidFill>
              </a:rPr>
              <a:t>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74520" y="1664208"/>
            <a:ext cx="1289304" cy="658368"/>
          </a:xfrm>
          <a:prstGeom prst="roundRect">
            <a:avLst>
              <a:gd name="adj" fmla="val 13889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11096" y="1664208"/>
            <a:ext cx="1216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R2/Mux publish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45536" y="1664208"/>
            <a:ext cx="128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7C97"/>
                </a:solidFill>
              </a:rPr>
              <a:t>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664208"/>
            <a:ext cx="1289304" cy="658368"/>
          </a:xfrm>
          <a:prstGeom prst="roundRect">
            <a:avLst>
              <a:gd name="adj" fmla="val 13889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82696" y="1664208"/>
            <a:ext cx="1216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feed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17136" y="1664208"/>
            <a:ext cx="128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7C97"/>
                </a:solidFill>
              </a:rPr>
              <a:t>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17720" y="1664208"/>
            <a:ext cx="1289304" cy="658368"/>
          </a:xfrm>
          <a:prstGeom prst="roundRect">
            <a:avLst>
              <a:gd name="adj" fmla="val 13889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1664208"/>
            <a:ext cx="1216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intent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88736" y="1664208"/>
            <a:ext cx="128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7C97"/>
                </a:solidFill>
              </a:rPr>
              <a:t>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9320" y="1664208"/>
            <a:ext cx="1289304" cy="658368"/>
          </a:xfrm>
          <a:prstGeom prst="roundRect">
            <a:avLst>
              <a:gd name="adj" fmla="val 13889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25896" y="1664208"/>
            <a:ext cx="1216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Dual-sign + relay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260336" y="1664208"/>
            <a:ext cx="128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7C97"/>
                </a:solidFill>
              </a:rPr>
              <a:t>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60920" y="1664208"/>
            <a:ext cx="1289304" cy="658368"/>
          </a:xfrm>
          <a:prstGeom prst="roundRect">
            <a:avLst>
              <a:gd name="adj" fmla="val 13889"/>
            </a:avLst>
          </a:prstGeom>
          <a:solidFill>
            <a:srgbClr val="1A2433"/>
          </a:solidFill>
          <a:ln w="12700">
            <a:solidFill>
              <a:srgbClr val="245A52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97496" y="1664208"/>
            <a:ext cx="1216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proof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2615184"/>
            <a:ext cx="8138160" cy="1737360"/>
          </a:xfrm>
          <a:prstGeom prst="roundRect">
            <a:avLst>
              <a:gd name="adj" fmla="val 5263"/>
            </a:avLst>
          </a:prstGeom>
          <a:solidFill>
            <a:srgbClr val="151D2B"/>
          </a:solidFill>
          <a:ln w="12700">
            <a:solidFill>
              <a:srgbClr val="245A52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274320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receipts — devnet, 2026-05-18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3145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PDA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43200" y="314553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9uATJ4cGDW5Q2NyNqLkMyyhyEZRUaywrxzaUBPUje7C9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3447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status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743200" y="34472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152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proof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743200" y="37490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FUNDED  (PDA · tx signature · manifest hash)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050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743200" y="40507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Mux HLS playback ready — no local fallback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3FB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the demo: paste the tx signature into Solana Explorer — the account is really there.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&amp; PATH TO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Compliance-aware by design · honest GTM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959352" cy="2788920"/>
          </a:xfrm>
          <a:prstGeom prst="roundRect">
            <a:avLst>
              <a:gd name="adj" fmla="val 3279"/>
            </a:avLst>
          </a:prstGeom>
          <a:solidFill>
            <a:srgbClr val="151D2B"/>
          </a:solidFill>
          <a:ln w="12700">
            <a:solidFill>
              <a:srgbClr val="7E2A1E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7830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with compliance-aware constraints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2212848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Backer USDC capped &amp; decoupled from stake.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SPUMP non-transferable, no sale, no listing.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Geofence + KYC/KYB at the edges.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 moves reach — never multiplies USDC.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on legal opinion + audit (not a legal claim).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81728" y="1645920"/>
            <a:ext cx="3959352" cy="2788920"/>
          </a:xfrm>
          <a:prstGeom prst="roundRect">
            <a:avLst>
              <a:gd name="adj" fmla="val 3279"/>
            </a:avLst>
          </a:prstGeom>
          <a:solidFill>
            <a:srgbClr val="151D2B"/>
          </a:solidFill>
          <a:ln w="12700">
            <a:solidFill>
              <a:srgbClr val="245A52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7830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— wedge first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37760" y="2212848"/>
            <a:ext cx="35844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Creator-first, one narrow vertical.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Earliest sponsors are crypto-native / innovation-friendly.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Jurisdictions where compliant reward design can be validated.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abstraction: sponsors pay fiat — they see budget, proof, receipt, not wallets or gas.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457200"/>
            <a:ext cx="1828800" cy="1828800"/>
          </a:xfrm>
          <a:prstGeom prst="ellipse">
            <a:avLst/>
          </a:prstGeom>
          <a:solidFill>
            <a:srgbClr val="224A8C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3657600"/>
            <a:ext cx="1463040" cy="1463040"/>
          </a:xfrm>
          <a:prstGeom prst="ellipse">
            <a:avLst/>
          </a:prstGeom>
          <a:solidFill>
            <a:srgbClr val="DE402A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B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&amp; 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prototype — corridor verified, design ahead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8138160" cy="1371600"/>
          </a:xfrm>
          <a:prstGeom prst="roundRect">
            <a:avLst>
              <a:gd name="adj" fmla="val 6667"/>
            </a:avLst>
          </a:prstGeom>
          <a:solidFill>
            <a:srgbClr val="151D2B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47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E2E on devnet: </a:t>
            </a:r>
            <a:pPr indent="0" marL="0">
              <a:buNone/>
            </a:pPr>
            <a:r>
              <a:rPr lang="en-US" sz="13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→ R2/Mux media → public feed → proposal → dual-sign → on-chain campaign proof. </a:t>
            </a:r>
            <a:pPr indent="0" marL="0">
              <a:buNone/>
            </a:pPr>
            <a:r>
              <a:rPr lang="en-US" sz="1300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Anchor instructions, 84 typed errors. Readiness is tracked honestly — loyalty, influence, metric provider and Track 3 are labeled designed.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6210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 support · seed sponsorship budget · legal &amp; audit resources · first-vertical creators.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42611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A2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the asset · fans the backers · sponsors the revenue engine — </a:t>
            </a:r>
            <a:pPr indent="0" marL="0">
              <a:buNone/>
            </a:pPr>
            <a:r>
              <a:rPr lang="en-US" sz="1500" b="1" i="1" dirty="0">
                <a:solidFill>
                  <a:srgbClr val="DE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settled on Solana.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StreamPump — Demo Day</dc:title>
  <dc:subject>PptxGenJS Presentation</dc:subject>
  <dc:creator>StreamPump</dc:creator>
  <cp:lastModifiedBy>StreamPump</cp:lastModifiedBy>
  <cp:revision>1</cp:revision>
  <dcterms:created xsi:type="dcterms:W3CDTF">2026-06-21T15:21:54Z</dcterms:created>
  <dcterms:modified xsi:type="dcterms:W3CDTF">2026-06-21T15:21:54Z</dcterms:modified>
</cp:coreProperties>
</file>