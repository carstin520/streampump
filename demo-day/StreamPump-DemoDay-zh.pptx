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开场钩子：Web3 试过修复创作者经济，基本都失败了，因为它们代币优先。StreamPump 正相反——它是信任与结算层，不是一个币；而且已经在 devnet 上端到端跑通。一句话开场：'这不是一份 PPT，它真的在跑——60 秒内我给你看链上。'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需求早已存在——创作者活动已是核心媒介渠道。缺的是品牌、创作者、粉丝三方之间可验证的信任层。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它们失败是因为是'找产品的币'。StreamPump 把这三点全部反转：产品优先、币不可卖、归属而非所有权。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关于所有权：我们在链上放的是创作者签名的发布时间戳 + 完整性指纹——是归属而非所有权，让收入流向正确的创作者。'身份重于金钱'也是整套合规设计的根基。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一句话讲清整个产品，也是被低估的关键架构取舍。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相对粗糙设计的关键改动：奖励与持仓解耦 + 封顶，创作者拿大头。这把背书者收益重新定性为'早期策展的奖励'，而非资本回报——是合规姿态的核心。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1 保护创作者，Track 2 用'有上限的统一粉丝奖励'对齐激励，Track 3 保持 gated——我们不伪造成交数据。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随时可用的消耗（打赏/助推/徽章）让大部分 SPUMP 需求是非货币的——这也塌缩了隐含美元价格。它既是参与机制，也是合规机制。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对评委最炸的细节：NonTransferable 禁转，但 Token-2022 仍允许 Burn——恰好是 SPUMP 需要的信念机制。说明我们读过 spec，不是套模板。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这是相对'满屏 PPT'对手的最大差异点。先走一遍走廊，再现场打开 Explorer。提前把标签页加载好，避免 RPC 卡顿。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评委即投资人——主动回应证券问题，并坦诚承认赞助商获取风险。缓解手段是 treasury abstraction：链上可验证，但不把 crypto 体验抛给买方。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以明确诉求收尾——Colosseum 评委在找可投公司。最后落在那句一句话定位。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82880"/>
            <a:ext cx="2194560" cy="2194560"/>
          </a:xfrm>
          <a:prstGeom prst="ellipse">
            <a:avLst/>
          </a:prstGeom>
          <a:solidFill>
            <a:srgbClr val="405A9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566160"/>
            <a:ext cx="1463040" cy="1463040"/>
          </a:xfrm>
          <a:prstGeom prst="ellipse">
            <a:avLst/>
          </a:prstGeom>
          <a:solidFill>
            <a:srgbClr val="DE402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640080" y="3291840"/>
            <a:ext cx="1828800" cy="1828800"/>
          </a:xfrm>
          <a:prstGeom prst="ellipse">
            <a:avLst/>
          </a:prstGeom>
          <a:solidFill>
            <a:srgbClr val="224A8C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DE402A"/>
          </a:solidFill>
          <a:ln/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5880" y="122529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StreamPump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2148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面向创作者赞助的信任与结算层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76656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 → 创作者势能 → 粉丝 → 赞助商 USDC → </a:t>
            </a:r>
            <a:pPr indent="0" marL="0">
              <a:buNone/>
            </a:pPr>
            <a:r>
              <a:rPr lang="en-US" sz="1700" b="1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Solana 结算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76656" y="3886200"/>
            <a:ext cx="1485900" cy="420624"/>
          </a:xfrm>
          <a:prstGeom prst="roundRect">
            <a:avLst>
              <a:gd name="adj" fmla="val 50000"/>
            </a:avLst>
          </a:prstGeom>
          <a:solidFill>
            <a:srgbClr val="151D2B"/>
          </a:solidFill>
          <a:ln w="12700">
            <a:solidFill>
              <a:srgbClr val="7E2A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3886200"/>
            <a:ext cx="14859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不是粉丝币赌场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63724" y="3886200"/>
            <a:ext cx="1965960" cy="420624"/>
          </a:xfrm>
          <a:prstGeom prst="roundRect">
            <a:avLst>
              <a:gd name="adj" fmla="val 50000"/>
            </a:avLst>
          </a:prstGeom>
          <a:solidFill>
            <a:srgbClr val="151D2B"/>
          </a:solidFill>
          <a:ln w="12700">
            <a:solidFill>
              <a:srgbClr val="7E2A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63724" y="388620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SPUMP 永不上所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30852" y="3886200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151D2B"/>
          </a:solidFill>
          <a:ln w="12700">
            <a:solidFill>
              <a:srgbClr val="7E2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0852" y="38862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已在 devnet 跑通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6656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C9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Web2.5 · 构建于 Solana · Token-2022 · Anchor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市场机会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 4800 亿美元市场，独缺一层：信任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670048" cy="1572768"/>
          </a:xfrm>
          <a:prstGeom prst="roundRect">
            <a:avLst>
              <a:gd name="adj" fmla="val 5814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$480B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04088" y="25054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2027 年创作者经济规模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2907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C9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高盛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0128" y="1645920"/>
            <a:ext cx="2670048" cy="1572768"/>
          </a:xfrm>
          <a:prstGeom prst="roundRect">
            <a:avLst>
              <a:gd name="adj" fmla="val 5814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11296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$37B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11296" y="25054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美国创作者广告支出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11296" y="2907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C9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IAB 2025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17336" y="1645920"/>
            <a:ext cx="2670048" cy="1572768"/>
          </a:xfrm>
          <a:prstGeom prst="roundRect">
            <a:avLst>
              <a:gd name="adj" fmla="val 5814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18504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318504" y="25054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品牌更青睐中腰部创作者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18504" y="2907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C9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而非头部网红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456432"/>
            <a:ext cx="8138160" cy="1097280"/>
          </a:xfrm>
          <a:prstGeom prst="roundRect">
            <a:avLst>
              <a:gd name="adj" fmla="val 8333"/>
            </a:avLst>
          </a:prstGeom>
          <a:solidFill>
            <a:srgbClr val="1A2433"/>
          </a:solidFill>
          <a:ln w="12700">
            <a:solidFill>
              <a:srgbClr val="7E2A1E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60273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缺的就是信任。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98678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品牌方</a:t>
            </a:r>
            <a:pPr indent="0" marL="0">
              <a:buNone/>
            </a:pPr>
            <a:r>
              <a:rPr lang="en-US" sz="13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需要可验证的活动证明。   </a:t>
            </a:r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创作者</a:t>
            </a:r>
            <a:pPr indent="0" marL="0">
              <a:buNone/>
            </a:pPr>
            <a:r>
              <a:rPr lang="en-US" sz="13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需要公平、结构化的结算。   </a:t>
            </a:r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粉丝</a:t>
            </a:r>
            <a:pPr indent="0" marL="0">
              <a:buNone/>
            </a:pPr>
            <a:r>
              <a:rPr lang="en-US" sz="13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需要非投机的上行空间。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为何前人折戟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SocialFi 1.0 的崩塌是结构性的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7556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friend.tech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日活 8万 → 不足 1万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4088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收入跌到约 $71；合约弃用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0128" y="1627632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11296" y="17556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Farcaster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11296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月新增 1.5万 → 545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11296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融资 $150M 后崩盘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17336" y="1627632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18504" y="17556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18504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月新增 3.7万 → 142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18504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暴跌约 99.6%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三个结构性失败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584448"/>
            <a:ext cx="2670048" cy="987552"/>
          </a:xfrm>
          <a:prstGeom prst="roundRect">
            <a:avLst>
              <a:gd name="adj" fmla="val 9259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730752"/>
            <a:ext cx="365760" cy="365760"/>
          </a:xfrm>
          <a:prstGeom prst="ellipse">
            <a:avLst/>
          </a:prstGeom>
          <a:solidFill>
            <a:srgbClr val="DE402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61288" y="3721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代币优先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发币，而非做产品。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0128" y="3584448"/>
            <a:ext cx="2670048" cy="987552"/>
          </a:xfrm>
          <a:prstGeom prst="roundRect">
            <a:avLst>
              <a:gd name="adj" fmla="val 9259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93008" y="3730752"/>
            <a:ext cx="365760" cy="365760"/>
          </a:xfrm>
          <a:prstGeom prst="ellipse">
            <a:avLst/>
          </a:prstGeom>
          <a:solidFill>
            <a:srgbClr val="DE402A"/>
          </a:solidFill>
          <a:ln/>
        </p:spPr>
      </p:sp>
      <p:sp>
        <p:nvSpPr>
          <p:cNvPr id="24" name="Text 22"/>
          <p:cNvSpPr/>
          <p:nvPr/>
        </p:nvSpPr>
        <p:spPr>
          <a:xfrm>
            <a:off x="34930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968496" y="3721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看广告赚币死亡螺旋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11296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赚币 → DEX 抛售 → 崩盘 → 走人。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17336" y="3584448"/>
            <a:ext cx="2670048" cy="987552"/>
          </a:xfrm>
          <a:prstGeom prst="roundRect">
            <a:avLst>
              <a:gd name="adj" fmla="val 9259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0216" y="3730752"/>
            <a:ext cx="365760" cy="365760"/>
          </a:xfrm>
          <a:prstGeom prst="ellipse">
            <a:avLst/>
          </a:prstGeom>
          <a:solidFill>
            <a:srgbClr val="DE402A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75704" y="3721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伪内容所有权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18504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内容上链：又慢又贵，没人要。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我们的信念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四条信念，反转旧打法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847088"/>
            <a:ext cx="438912" cy="438912"/>
          </a:xfrm>
          <a:prstGeom prst="ellipse">
            <a:avLst/>
          </a:prstGeom>
          <a:solidFill>
            <a:srgbClr val="DE402A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18470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内容才是资产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2376" y="2340864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内容沉淀受众，代币只招投机者。我们锚定归属，绝不把内容代币化或锁定。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1728" y="1627632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82896" y="1847088"/>
            <a:ext cx="438912" cy="438912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11" name="Text 9"/>
          <p:cNvSpPr/>
          <p:nvPr/>
        </p:nvSpPr>
        <p:spPr>
          <a:xfrm>
            <a:off x="4882896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58968" y="18470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SPUMP 纯工具属性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01184" y="2340864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不可转让、永不上所。靠参与赚取，花在身份上——绝不出售。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127248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" y="3346704"/>
            <a:ext cx="438912" cy="438912"/>
          </a:xfrm>
          <a:prstGeom prst="ellipse">
            <a:avLst/>
          </a:prstGeom>
          <a:solidFill>
            <a:srgbClr val="DE402A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346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80160" y="334670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赞助商是付费方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2376" y="3840480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他们投放活动、支付 USDC——比投机健康得多的资金来源，也是协议的主要流入。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81728" y="3127248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82896" y="3346704"/>
            <a:ext cx="438912" cy="438912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21" name="Text 19"/>
          <p:cNvSpPr/>
          <p:nvPr/>
        </p:nvSpPr>
        <p:spPr>
          <a:xfrm>
            <a:off x="4882896" y="3346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58968" y="334670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身份重于金钱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01184" y="3840480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持久驱动力是身份、地位与策展声誉。USDC 只是有上限的加成，绝非卖点。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运作方式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一个闭环，在 Solana 上结算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572768" cy="1097280"/>
          </a:xfrm>
          <a:prstGeom prst="roundRect">
            <a:avLst>
              <a:gd name="adj" fmla="val 8333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938528"/>
            <a:ext cx="475488" cy="475488"/>
          </a:xfrm>
          <a:prstGeom prst="ellipse">
            <a:avLst/>
          </a:prstGeom>
          <a:solidFill>
            <a:srgbClr val="DE402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57400" y="1783080"/>
            <a:ext cx="210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7C97"/>
                </a:solidFill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40280" y="1783080"/>
            <a:ext cx="1572768" cy="1097280"/>
          </a:xfrm>
          <a:prstGeom prst="roundRect">
            <a:avLst>
              <a:gd name="adj" fmla="val 8333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938528"/>
            <a:ext cx="475488" cy="475488"/>
          </a:xfrm>
          <a:prstGeom prst="ellipse">
            <a:avLst/>
          </a:prstGeom>
          <a:solidFill>
            <a:srgbClr val="DE402A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286000" y="246888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创作者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势能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794760" y="1783080"/>
            <a:ext cx="210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7C97"/>
                </a:solidFill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977640" y="1783080"/>
            <a:ext cx="1572768" cy="1097280"/>
          </a:xfrm>
          <a:prstGeom prst="roundRect">
            <a:avLst>
              <a:gd name="adj" fmla="val 8333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1938528"/>
            <a:ext cx="475488" cy="475488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023360" y="246888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粉丝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参与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32120" y="1783080"/>
            <a:ext cx="210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7C97"/>
                </a:solidFill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715000" y="1783080"/>
            <a:ext cx="1572768" cy="1097280"/>
          </a:xfrm>
          <a:prstGeom prst="roundRect">
            <a:avLst>
              <a:gd name="adj" fmla="val 8333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938528"/>
            <a:ext cx="475488" cy="475488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760720" y="246888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赞助商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USDC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69480" y="1783080"/>
            <a:ext cx="210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7C97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52360" y="1783080"/>
            <a:ext cx="1572768" cy="1097280"/>
          </a:xfrm>
          <a:prstGeom prst="roundRect">
            <a:avLst>
              <a:gd name="adj" fmla="val 8333"/>
            </a:avLst>
          </a:prstGeom>
          <a:solidFill>
            <a:srgbClr val="1A2433"/>
          </a:solidFill>
          <a:ln w="12700">
            <a:solidFill>
              <a:srgbClr val="31447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01000" y="1938528"/>
            <a:ext cx="475488" cy="475488"/>
          </a:xfrm>
          <a:prstGeom prst="ellipse">
            <a:avLst/>
          </a:prstGeom>
          <a:solidFill>
            <a:srgbClr val="6E8CE6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98080" y="246888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Solana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结算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3246120"/>
            <a:ext cx="8138160" cy="1298448"/>
          </a:xfrm>
          <a:prstGeom prst="roundRect">
            <a:avLst>
              <a:gd name="adj" fmla="val 7042"/>
            </a:avLst>
          </a:prstGeom>
          <a:solidFill>
            <a:srgbClr val="151D2B"/>
          </a:solidFill>
          <a:ln w="12700">
            <a:solidFill>
              <a:srgbClr val="31447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34015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8C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工作流 DB 优先 · 财务真相链上优先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3785616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草稿、上传、manifest 与 intent 存在 Postgres——快且灵活。资金、结算、代币流转与内容锚定以 Solana 为准。正是这一拆分，让 StreamPump 既不同于粉丝币赌场，也不同于又慢又贵的'全上链'产品。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Season 1 — 创作者发现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基于信念的发现，而非粉丝币市场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粉丝销毁不可转让的 SPUMP，换取内部 S1 仓位（一个 PDA，而非可交易代币），价格沿评级调整的 bonding curve 变动。正因 SPUMP 买不到，背书才是可信的高成本信号——信任层的立论正基于此。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1289304" cy="603504"/>
          </a:xfrm>
          <a:prstGeom prst="roundRect">
            <a:avLst>
              <a:gd name="adj" fmla="val 15152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9496" y="2240280"/>
            <a:ext cx="1216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报价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73936" y="2240280"/>
            <a:ext cx="128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C97"/>
                </a:solidFill>
              </a:rPr>
              <a:t>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74520" y="2240280"/>
            <a:ext cx="1289304" cy="603504"/>
          </a:xfrm>
          <a:prstGeom prst="roundRect">
            <a:avLst>
              <a:gd name="adj" fmla="val 15152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11096" y="2240280"/>
            <a:ext cx="1216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45536" y="2240280"/>
            <a:ext cx="128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C97"/>
                </a:solidFill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46120" y="2240280"/>
            <a:ext cx="1289304" cy="603504"/>
          </a:xfrm>
          <a:prstGeom prst="roundRect">
            <a:avLst>
              <a:gd name="adj" fmla="val 15152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82696" y="2240280"/>
            <a:ext cx="1216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Rage-quit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17136" y="2240280"/>
            <a:ext cx="128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C97"/>
                </a:solidFill>
              </a:rPr>
              <a:t>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17720" y="2240280"/>
            <a:ext cx="1289304" cy="603504"/>
          </a:xfrm>
          <a:prstGeom prst="roundRect">
            <a:avLst>
              <a:gd name="adj" fmla="val 15152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54296" y="2240280"/>
            <a:ext cx="1216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毕业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88736" y="2240280"/>
            <a:ext cx="128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C97"/>
                </a:solidFill>
              </a:rPr>
              <a:t>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89320" y="2240280"/>
            <a:ext cx="1289304" cy="603504"/>
          </a:xfrm>
          <a:prstGeom prst="roundRect">
            <a:avLst>
              <a:gd name="adj" fmla="val 15152"/>
            </a:avLst>
          </a:prstGeom>
          <a:solidFill>
            <a:srgbClr val="1A2433"/>
          </a:solidFill>
          <a:ln w="12700">
            <a:solidFill>
              <a:srgbClr val="7E2A1E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25896" y="2240280"/>
            <a:ext cx="1216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发现奖励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60336" y="2240280"/>
            <a:ext cx="128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C97"/>
                </a:solidFill>
              </a:rPr>
              <a:t>›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60920" y="2240280"/>
            <a:ext cx="1289304" cy="603504"/>
          </a:xfrm>
          <a:prstGeom prst="roundRect">
            <a:avLst>
              <a:gd name="adj" fmla="val 15152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97496" y="2240280"/>
            <a:ext cx="1216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清扫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035808"/>
            <a:ext cx="8138160" cy="1517904"/>
          </a:xfrm>
          <a:prstGeom prst="roundRect">
            <a:avLst>
              <a:gd name="adj" fmla="val 6024"/>
            </a:avLst>
          </a:prstGeom>
          <a:solidFill>
            <a:srgbClr val="1A2433"/>
          </a:solidFill>
          <a:ln w="12700">
            <a:solidFill>
              <a:srgbClr val="7E2A1E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316382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买断经济学——让“背书”被视为策展，而非投资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" y="3529584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资金来源 —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赞助商承诺的 USDC 预算（早期可选平台补贴）。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创作者拿大头 —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买断款的大部分是创作者的商业收入。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背书者奖励有上限且解耦 —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按资格 / 早期程度 / 忠诚度，绝不按持仓比例。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主奖励是身份 —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永久创始排名；USDC 只是有上限的加成。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Season 2 — 商业引擎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三条结算轨道，精细可控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64208"/>
            <a:ext cx="8138160" cy="457200"/>
          </a:xfrm>
          <a:prstGeom prst="roundRect">
            <a:avLst>
              <a:gd name="adj" fmla="val 20000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642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轨道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1664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86200" y="1664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结算逻辑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8138160" cy="603504"/>
          </a:xfrm>
          <a:prstGeom prst="roundRect">
            <a:avLst>
              <a:gd name="adj" fmla="val 15152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21284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Track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221284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固定底薪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86200" y="221284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无条件支付给创作者——“一定拿得到”的底线。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871216"/>
            <a:ext cx="8138160" cy="914400"/>
          </a:xfrm>
          <a:prstGeom prst="roundRect">
            <a:avLst>
              <a:gd name="adj" fmla="val 10000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71216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Track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287121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效果预算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287121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设达标门槛 (cliff)；未达 = 赞助商退款。达标 = 80% 创作者 / 20% 粉丝池（有上限、统一，非按持仓比例）。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8138160" cy="676656"/>
          </a:xfrm>
          <a:prstGeom prst="roundRect">
            <a:avLst>
              <a:gd name="adj" fmla="val 13514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840480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8C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Track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384048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CPS（按成交付费）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86200" y="384048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预先注资；退款窗口后结算；未用部分退回赞助商。接入真实商户对账方前保持 gated。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5902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生命周期：content manifest → proposal intent → 创作者签名 → 赞助商签名并注资 → Solana 金库 → 分轨结算，产出公开可审计的 campaign proof。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把代币做对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SPUMP 买的是声量——绝不是收益倍数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SPUMP 是平台的信念 / 声量 / 能量货币：不可转让、不发售、永不上所。靠参与赚取；花在身份、触达与声誉上。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3959352" cy="841248"/>
          </a:xfrm>
          <a:prstGeom prst="roundRect">
            <a:avLst>
              <a:gd name="adj" fmla="val 10870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22311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徽章等级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22376" y="25420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赚来的身份，销毁 SPUMP 来领取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81728" y="2103120"/>
            <a:ext cx="3959352" cy="841248"/>
          </a:xfrm>
          <a:prstGeom prst="roundRect">
            <a:avLst>
              <a:gd name="adj" fmla="val 10870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01184" y="22311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打赏 / 助推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01184" y="25420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高成本信号，喂给创作者势能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3959352" cy="841248"/>
          </a:xfrm>
          <a:prstGeom prst="roundRect">
            <a:avLst>
              <a:gd name="adj" fmla="val 10870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特权解锁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2376" y="34930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身份与权限装饰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81728" y="3054096"/>
            <a:ext cx="3959352" cy="841248"/>
          </a:xfrm>
          <a:prstGeom prst="roundRect">
            <a:avLst>
              <a:gd name="adj" fmla="val 10870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01184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连续打卡保护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01184" y="34930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损失厌恶型消耗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078224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1A2433"/>
          </a:solidFill>
          <a:ln w="12700">
            <a:solidFill>
              <a:srgbClr val="7E2A1E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07822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绝不越过的红线：</a:t>
            </a:r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任何消耗都不会把 SPUMP 兑成 USDC、抬高领取额或制造价格。买声量与声誉——绝不买收益。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274320"/>
            <a:ext cx="1554480" cy="1554480"/>
          </a:xfrm>
          <a:prstGeom prst="ellipse">
            <a:avLst/>
          </a:prstGeom>
          <a:solidFill>
            <a:srgbClr val="DE402A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为何选 Solana——不是营销话术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每个机制都依赖 Solana 的特定能力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7E2A1E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Token-2022 NonTransferable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22376" y="2231136"/>
            <a:ext cx="3584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SPUMP 在协议层灵魂绑定——但 Burn 仍被允许，所以“销毁即背书”原生成立，无需 hack。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81728" y="1664208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245A52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01184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亚秒级确认 · 极低费用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01184" y="2231136"/>
            <a:ext cx="3584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快速确认与极低费用让高频结算（bonding curve 交易、Track 2/3 微额结算）切实可行；高费用 L1 上不现实。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200400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7E2A1E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" y="33649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PDA 可组合性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2376" y="3767328"/>
            <a:ext cx="3584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协议配置、档案、S1 仓位、proposal 与 USDC 金库都是确定性、可验证的链上账户。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81728" y="3200400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245A52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01184" y="33649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Anchor — 单一程序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01184" y="3767328"/>
            <a:ext cx="3584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 条类型安全指令，覆盖 S1 / buyout / S2 全生命周期；84 个类型化错误。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这不是 Demo 摆设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生产走廊已在 devnet 验证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64208"/>
            <a:ext cx="1289304" cy="658368"/>
          </a:xfrm>
          <a:prstGeom prst="roundRect">
            <a:avLst>
              <a:gd name="adj" fmla="val 13889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6642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认证创作者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73936" y="1664208"/>
            <a:ext cx="128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7C97"/>
                </a:solidFill>
              </a:rPr>
              <a:t>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74520" y="1664208"/>
            <a:ext cx="1289304" cy="658368"/>
          </a:xfrm>
          <a:prstGeom prst="roundRect">
            <a:avLst>
              <a:gd name="adj" fmla="val 13889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01952" y="16642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R2·Mux 发布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45536" y="1664208"/>
            <a:ext cx="128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7C97"/>
                </a:solidFill>
              </a:rPr>
              <a:t>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664208"/>
            <a:ext cx="1289304" cy="658368"/>
          </a:xfrm>
          <a:prstGeom prst="roundRect">
            <a:avLst>
              <a:gd name="adj" fmla="val 13889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73552" y="16642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 feed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17136" y="1664208"/>
            <a:ext cx="128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7C97"/>
                </a:solidFill>
              </a:rPr>
              <a:t>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17720" y="1664208"/>
            <a:ext cx="1289304" cy="658368"/>
          </a:xfrm>
          <a:prstGeom prst="roundRect">
            <a:avLst>
              <a:gd name="adj" fmla="val 13889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45152" y="16642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Proposal intent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88736" y="1664208"/>
            <a:ext cx="128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7C97"/>
                </a:solidFill>
              </a:rPr>
              <a:t>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9320" y="1664208"/>
            <a:ext cx="1289304" cy="658368"/>
          </a:xfrm>
          <a:prstGeom prst="roundRect">
            <a:avLst>
              <a:gd name="adj" fmla="val 13889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16752" y="16642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双签 + 中继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60336" y="1664208"/>
            <a:ext cx="128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7C97"/>
                </a:solidFill>
              </a:rPr>
              <a:t>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60920" y="1664208"/>
            <a:ext cx="1289304" cy="658368"/>
          </a:xfrm>
          <a:prstGeom prst="roundRect">
            <a:avLst>
              <a:gd name="adj" fmla="val 13889"/>
            </a:avLst>
          </a:prstGeom>
          <a:solidFill>
            <a:srgbClr val="1A2433"/>
          </a:solidFill>
          <a:ln w="12700">
            <a:solidFill>
              <a:srgbClr val="245A52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88352" y="16642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Campaign proof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2615184"/>
            <a:ext cx="8138160" cy="1737360"/>
          </a:xfrm>
          <a:prstGeom prst="roundRect">
            <a:avLst>
              <a:gd name="adj" fmla="val 5263"/>
            </a:avLst>
          </a:prstGeom>
          <a:solidFill>
            <a:srgbClr val="151D2B"/>
          </a:solidFill>
          <a:ln w="12700">
            <a:solidFill>
              <a:srgbClr val="245A52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274320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链上回执 — devnet，2026-05-18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3145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Proposal PDA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43200" y="314553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9uATJ4cGDW5Q2NyNqLkMyyhyEZRUaywrxzaUBPUje7C9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中继状态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743200" y="34472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152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Campaign proof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743200" y="37490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FUNDED （PDA · tx 签名 · manifest hash）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050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媒体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743200" y="40507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Mux HLS 可播放 — 无本地兜底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3F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现场演示：把 tx 签名贴进 Solana Explorer——账户真实存在。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成熟度与上市路径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合规意识贯穿设计 · 诚实的 GTM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959352" cy="2788920"/>
          </a:xfrm>
          <a:prstGeom prst="roundRect">
            <a:avLst>
              <a:gd name="adj" fmla="val 3279"/>
            </a:avLst>
          </a:prstGeom>
          <a:solidFill>
            <a:srgbClr val="151D2B"/>
          </a:solidFill>
          <a:ln w="12700">
            <a:solidFill>
              <a:srgbClr val="7E2A1E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7830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在合规约束下设计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2231136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背书者 USDC 有上限且与持仓解耦。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SPUMP 不可转让、不发售、不上所。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边界处地域限制 + KYC/KYB。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影响力推动触达——绝不乘以 USDC。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以法律意见 + 审计为前置（非法律结论）。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81728" y="1645920"/>
            <a:ext cx="3959352" cy="2788920"/>
          </a:xfrm>
          <a:prstGeom prst="roundRect">
            <a:avLst>
              <a:gd name="adj" fmla="val 3279"/>
            </a:avLst>
          </a:prstGeom>
          <a:solidFill>
            <a:srgbClr val="151D2B"/>
          </a:solidFill>
          <a:ln w="12700">
            <a:solidFill>
              <a:srgbClr val="245A52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7830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GTM — 先切楔子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37760" y="2231136"/>
            <a:ext cx="35844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创作者优先，单一细分赛道。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首批赞助商是 crypto-native / 创新友好型。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选择能验证合规奖励设计的司法辖区。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Treasury abstraction：赞助商付法币——只看到预算、证明、回执，不碰钱包与 gas。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457200"/>
            <a:ext cx="1828800" cy="1828800"/>
          </a:xfrm>
          <a:prstGeom prst="ellipse">
            <a:avLst/>
          </a:prstGeom>
          <a:solidFill>
            <a:srgbClr val="224A8C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3657600"/>
            <a:ext cx="1463040" cy="1463040"/>
          </a:xfrm>
          <a:prstGeom prst="ellipse">
            <a:avLst/>
          </a:prstGeom>
          <a:solidFill>
            <a:srgbClr val="DE402A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现状与诉求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高级原型——走廊已验证，设计在路上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8138160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47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devnet 端到端验证：</a:t>
            </a:r>
            <a:pPr indent="0" marL="0">
              <a:buNone/>
            </a:pPr>
            <a:r>
              <a:rPr lang="en-US" sz="13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认证 → R2/Mux 媒体 → 公共 feed → proposal → 双签 → 链上 campaign proof。</a:t>
            </a:r>
            <a:pPr indent="0" marL="0">
              <a:buNone/>
            </a:pPr>
            <a:r>
              <a:rPr lang="en-US" sz="1300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 条 Anchor 指令，84 个类型化错误。就绪度诚实标注——忠诚度、影响力、指标提供方与 Track 3 标记为设计阶段。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我们的诉求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6210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加速器支持 · 种子赞助预算 · 法律与审计资源 · 首批赛道创作者。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2611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A2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内容即资产 · 粉丝即支持者 · 赞助商即营收引擎——</a:t>
            </a:r>
            <a:pPr indent="0" marL="0">
              <a:buNone/>
            </a:pPr>
            <a:r>
              <a:rPr lang="en-US" sz="1500" b="1" i="1" dirty="0">
                <a:solidFill>
                  <a:srgbClr val="DE4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全部在 Solana 上结算。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StreamPump — 路演（中文）</dc:title>
  <dc:subject>PptxGenJS Presentation</dc:subject>
  <dc:creator>StreamPump</dc:creator>
  <cp:lastModifiedBy>StreamPump</cp:lastModifiedBy>
  <cp:revision>1</cp:revision>
  <dcterms:created xsi:type="dcterms:W3CDTF">2026-06-21T15:57:56Z</dcterms:created>
  <dcterms:modified xsi:type="dcterms:W3CDTF">2026-06-21T15:57:56Z</dcterms:modified>
</cp:coreProperties>
</file>